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28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ncess Mariama Ramboyong" userId="2b2ab0ac-fab9-4fc4-9aa6-7cd9ba9b17f2" providerId="ADAL" clId="{6D33271B-C699-5947-810E-2B0E8458D5CF}"/>
    <pc:docChg chg="custSel modSld">
      <pc:chgData name="Princess Mariama Ramboyong" userId="2b2ab0ac-fab9-4fc4-9aa6-7cd9ba9b17f2" providerId="ADAL" clId="{6D33271B-C699-5947-810E-2B0E8458D5CF}" dt="2026-06-26T17:40:08.196" v="2" actId="478"/>
      <pc:docMkLst>
        <pc:docMk/>
      </pc:docMkLst>
      <pc:sldChg chg="modSp mod">
        <pc:chgData name="Princess Mariama Ramboyong" userId="2b2ab0ac-fab9-4fc4-9aa6-7cd9ba9b17f2" providerId="ADAL" clId="{6D33271B-C699-5947-810E-2B0E8458D5CF}" dt="2026-06-26T16:25:13.709" v="0" actId="14100"/>
        <pc:sldMkLst>
          <pc:docMk/>
          <pc:sldMk cId="0" sldId="266"/>
        </pc:sldMkLst>
        <pc:spChg chg="mod">
          <ac:chgData name="Princess Mariama Ramboyong" userId="2b2ab0ac-fab9-4fc4-9aa6-7cd9ba9b17f2" providerId="ADAL" clId="{6D33271B-C699-5947-810E-2B0E8458D5CF}" dt="2026-06-26T16:25:13.709" v="0" actId="14100"/>
          <ac:spMkLst>
            <pc:docMk/>
            <pc:sldMk cId="0" sldId="266"/>
            <ac:spMk id="2" creationId="{00000000-0000-0000-0000-000000000000}"/>
          </ac:spMkLst>
        </pc:spChg>
      </pc:sldChg>
      <pc:sldChg chg="modSp mod">
        <pc:chgData name="Princess Mariama Ramboyong" userId="2b2ab0ac-fab9-4fc4-9aa6-7cd9ba9b17f2" providerId="ADAL" clId="{6D33271B-C699-5947-810E-2B0E8458D5CF}" dt="2026-06-26T17:39:18.903" v="1" actId="20577"/>
        <pc:sldMkLst>
          <pc:docMk/>
          <pc:sldMk cId="0" sldId="269"/>
        </pc:sldMkLst>
        <pc:spChg chg="mod">
          <ac:chgData name="Princess Mariama Ramboyong" userId="2b2ab0ac-fab9-4fc4-9aa6-7cd9ba9b17f2" providerId="ADAL" clId="{6D33271B-C699-5947-810E-2B0E8458D5CF}" dt="2026-06-26T17:39:18.903" v="1" actId="20577"/>
          <ac:spMkLst>
            <pc:docMk/>
            <pc:sldMk cId="0" sldId="269"/>
            <ac:spMk id="8" creationId="{00000000-0000-0000-0000-000000000000}"/>
          </ac:spMkLst>
        </pc:spChg>
      </pc:sldChg>
      <pc:sldChg chg="delSp mod">
        <pc:chgData name="Princess Mariama Ramboyong" userId="2b2ab0ac-fab9-4fc4-9aa6-7cd9ba9b17f2" providerId="ADAL" clId="{6D33271B-C699-5947-810E-2B0E8458D5CF}" dt="2026-06-26T17:40:08.196" v="2" actId="478"/>
        <pc:sldMkLst>
          <pc:docMk/>
          <pc:sldMk cId="0" sldId="277"/>
        </pc:sldMkLst>
        <pc:spChg chg="del">
          <ac:chgData name="Princess Mariama Ramboyong" userId="2b2ab0ac-fab9-4fc4-9aa6-7cd9ba9b17f2" providerId="ADAL" clId="{6D33271B-C699-5947-810E-2B0E8458D5CF}" dt="2026-06-26T17:40:08.196" v="2" actId="478"/>
          <ac:spMkLst>
            <pc:docMk/>
            <pc:sldMk cId="0" sldId="277"/>
            <ac:spMk id="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53D"/>
                </a:solidFill>
                <a:latin typeface="Cambria"/>
              </a:defRPr>
            </a:pPr>
            <a:r>
              <a:rPr lang="en-US" sz="1400" b="0" i="0" u="none" strike="noStrike">
                <a:solidFill>
                  <a:srgbClr val="14253D"/>
                </a:solidFill>
                <a:latin typeface="Cambria"/>
              </a:rPr>
              <a:t>Register by priority band (n = 20)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Risks</c:v>
                </c:pt>
              </c:strCache>
            </c:strRef>
          </c:tx>
          <c:spPr>
            <a:solidFill>
              <a:srgbClr val="922B2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ACE-4D8C-938C-755A0453AA8C}"/>
              </c:ext>
            </c:extLst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ACE-4D8C-938C-755A0453AA8C}"/>
              </c:ext>
            </c:extLst>
          </c:dPt>
          <c:dPt>
            <c:idx val="2"/>
            <c:invertIfNegative val="0"/>
            <c:bubble3D val="0"/>
            <c:spPr>
              <a:solidFill>
                <a:srgbClr val="D6891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ACE-4D8C-938C-755A0453AA8C}"/>
              </c:ext>
            </c:extLst>
          </c:dPt>
          <c:dPt>
            <c:idx val="3"/>
            <c:invertIfNegative val="0"/>
            <c:bubble3D val="0"/>
            <c:spPr>
              <a:solidFill>
                <a:srgbClr val="2E7D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ACE-4D8C-938C-755A0453AA8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5</c:v>
                </c:pt>
                <c:pt idx="2">
                  <c:v>12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ACE-4D8C-938C-755A0453AA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53D"/>
                </a:solidFill>
                <a:latin typeface="Cambria"/>
              </a:defRPr>
            </a:pPr>
            <a:r>
              <a:rPr lang="en-US" sz="1300" b="0" i="0" u="none" strike="noStrike" dirty="0">
                <a:solidFill>
                  <a:srgbClr val="14253D"/>
                </a:solidFill>
                <a:latin typeface="Cambria"/>
              </a:rPr>
              <a:t>P90 Scenario VaR</a:t>
            </a:r>
            <a:r>
              <a:rPr lang="en-US" sz="1300" b="0" i="0" u="none" strike="noStrike" baseline="0" dirty="0">
                <a:solidFill>
                  <a:srgbClr val="14253D"/>
                </a:solidFill>
                <a:latin typeface="Cambria"/>
              </a:rPr>
              <a:t> and Upside ($B)</a:t>
            </a:r>
            <a:r>
              <a:rPr lang="en-US" sz="1300" b="0" i="0" u="none" strike="noStrike" dirty="0">
                <a:solidFill>
                  <a:srgbClr val="14253D"/>
                </a:solidFill>
                <a:latin typeface="Cambria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P90 scenario VaR ($B)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D9D-4F6D-A5F6-E8682945ACD2}"/>
              </c:ext>
            </c:extLst>
          </c:dPt>
          <c:dPt>
            <c:idx val="1"/>
            <c:invertIfNegative val="0"/>
            <c:bubble3D val="0"/>
            <c:spPr>
              <a:solidFill>
                <a:srgbClr val="D6891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D9D-4F6D-A5F6-E8682945ACD2}"/>
              </c:ext>
            </c:extLst>
          </c:dPt>
          <c:dPt>
            <c:idx val="2"/>
            <c:invertIfNegative val="0"/>
            <c:bubble3D val="0"/>
            <c:spPr>
              <a:solidFill>
                <a:srgbClr val="2E7D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D9D-4F6D-A5F6-E8682945ACD2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R-MSE Loss</c:v>
                </c:pt>
                <c:pt idx="1">
                  <c:v>R-006 Loss</c:v>
                </c:pt>
                <c:pt idx="2">
                  <c:v>R-010 Upside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6.67</c:v>
                </c:pt>
                <c:pt idx="1">
                  <c:v>0.87</c:v>
                </c:pt>
                <c:pt idx="2">
                  <c:v>1.95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D9D-4F6D-A5F6-E8682945AC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533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OPENING (Amaka). Welcome the panel. One line: 'We assessed whether Pfizer can realize the $10 billion revenue thesis behind its $43 billion Seagen acquisition, using a full ERM analytics pipeline.' Introduce the four presenters and the running order, then hand to the agenda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Amaka walks the running order in 30 seconds. Stress that each member owns their section end-to-end and will field questions on it, since we are graded individually as well as as a group. Note we will also bridge into Module 6 themes in the live discussion. Hand to the first section divider.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line: 'I’ll set the scene — what Pfizer bought, why it’s risky, and how we turned that into a structured register.'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Amaka. Hit the four numbers fast — they frame everything. $43B and $10B are the promise; $71.9B debt is the strain. Then the 'why': patent cliff + ADC platform. Land the pivot: the strategic case is documented; the risk lives entirely in execution. That sentence sets up every later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Amaka. Walk the four cards left to right. The payoff is the dark band: these pressures are coupled. Give the concrete loop — synergy pressure → layoffs → scientists leave → the platform you paid $43B for walks out the door. That 'connected system' idea is our thesis and earns the interaction-view framing from COSO/ISO.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Amaka. Two ideas: (1) identification was disciplined, not brainstorming — three admission tests keep the register evidence-based. (2) The chart is the headline: severity is lopsided — 1 Critical, 5 High, and they cluster in competitive/financial risks. That is exactly why only three risks go forward to full quantification. Hand to Dike: 'Dike will show how we scored these and which three advance.'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'Thanks Amaka. With twenty risks identified, the question is how severe each is — and which deserve a full quantitative model.'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Dike. Keep it crisp. Scenario Analytics = depth on each risk's storyline; Industry Fusion = breadth against competitors. The 1–10 scale matters because it makes the qualitative output quantitative-ready — Likelihood × Impact becomes the score that the next section models. Mention the governance point (owners by expertise, evidence-based scoring) — graders reward that the scores aren't arbitrary.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Dike. First, the correction — it shows we acted on feedback and care about internal consistency (good for the Mechanics/quality marks). Then read the picture: the danger lives in the top-right corner, and it's competitive/financial. Name the three risks that go forward and WHY each qualifies (large exposure, observable indicators, decision hinges on the distribution). Hand to Princess: 'Princess now puts real numbers on these three.'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'Thanks Dike. Three risks earned a full quantitative model — here is the methodology and what the numbers say.'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Princess. Walk the four steps as a pipeline — emphasise it is the same method as the assigned Oman case study, which signals rigor. Justify triangular distributions in one breath: three-point expert estimates, no long history. Note impact ranges are not guesses — they come from DCF stress testing (a 10% revenue miss = ~$4.4B value loss; 20% = ~$9.6B).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Princess. The three callouts are the story in one line each. Then the key insight: the biggest-dollar risk and the most-likely risk are different risks — that is something a single point estimate would hide and is exactly why we simulate. Point at the VaR chart: at the 90th percentile R-MSE alone is $6.67B. Stress that variance/SD isn't decoration — it's a required deliverable and it tells the board to reserve against the 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Princess. Three moves borrowed from the case study. Sensitivity: impact drives ~80% of variance — so refine the DCF, not the probability guess. Tail: ~4.7% chance combined threats top $8B — that is the contingency argument. Validation: the model's ranking matches the qualitative ranking, which is how we know it's not noise. End on the dark band: these three checks are what make it decision-grade, not just a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Princess. Address the obvious question up front: where's the data? We generated a documented synthetic dataset, and crucially its features are our actual KRIs — that satisfies the 'feature selection aligned with KRIs' requirement. Metrics are strong (0.85 acc, 0.93 AUC). The punchline is the chart: the model, trained only to predict escalation, ranks the same five indicators we prioritised by hand — independent corroboration. Be honest on limits: it validates the workflow, not Pfizer-specific odds.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Princess. This is the 'so what' for the model inputs — every assumption traces to a real-world driver. Give one example each side: market CAGR sets the impact range; the IRA court ruling is why we treat R-003 as near-certain rather than a maybe. The message: our distributions aren't invented — the business and non-business environment chose them. Hand to Stella: 'Stella will turn all of this into action.'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'Thanks Princess. Numbers only matter if they drive action — here is how we respond and monitor.'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Stella. Don't read every row — group them. Most are Mitigate, but two are deliberately different: R-003 we Accept (the courts closed the alternatives, so we plan around it), and R-010 we Exploit (it's a positive risk). That range shows we matched strategy to the specific risk and to internal vs external conditions, which is exactly what the rubric rewards.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Stella. The whole point of a KRI is that someone acts before the loss, not after. Walk one row end-to-end — attrition: green under 5%, amber 5–8%, red above 8% or any named scientist leaving, which escalates to the CHRO/CEO. Emphasise thresholds are benchmarked to evidence (EY, biotech baseline, market CAGR) and each has an owner. These same indicators are the ML features from Princess's section — one shared definition of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Stella. This is the deliverable a board takes away. The column that matters is residual risk — we are honest that treatment reduces but never zeroes exposure (R-006 stays moderate, R-MSE stays elevated, R-003 is simply retained). And every line has an owner, so accountability is explicit. Keep it brief — the detail is in the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Stella. Land the four conclusions calmly — this is the synthesis. The single most important line is #4: the value of the project wasn't any one model, it was treating qualitative scoring, simulation, ML and KRIs as one connected system, which is how you catch the synergy-vs-talent loop before it costs you. Then move to the closing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Stella (group close). Deliver these as the recommendation to a decision-maker — confident and specific. 'Proceed, but protect the science, reserve for the tail, and monitor leading indicators monthly.' Then open the floor: invite questions and route each to whoever owns that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All. Thank the panel. Hold the references slide while taking Q&amp;A. Route questions: Background/register → Amaka; qualitative/heatmap → Dike; Monte Carlo/ML/situation → Princess; response/KRI/recommendation → Stella. If a question spans sections, the owner answers and others add one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2E5A88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474720"/>
            <a:ext cx="4114800" cy="41148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RISK MANAGEMENT ANALYTICS  •  GROUP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Triangulating the Risk Profile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 Risk Management Analysis of Pfizer’s $43B Acquisition of Seagen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Amaka Mary Nduka</a:t>
            </a: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 Liu</a:t>
            </a: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Princess Mariama Ramboyong</a:t>
            </a: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 Kafui Sabuki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Assessment  —  Live Session,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&amp; SPEAKER 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altLang="zh-CN" sz="30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resentation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30352" cy="530352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19476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Amaka Mary Nduka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91640" y="23500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Risk Identification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0" y="203911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deal, why it is a risk problem, and the risk register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999232"/>
            <a:ext cx="1090879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27355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735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31638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 Liu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91640" y="3566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Risk Assessment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0" y="325526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&amp; Industry Fusion analytics, severity, the heatmap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215384"/>
            <a:ext cx="1090879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489704"/>
            <a:ext cx="530352" cy="53035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897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91640" y="43799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Princess Mariama Ramboyong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91640" y="47823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Risk Assessment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52160" y="447141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Carlo, machine learning prediction, integrated situation assessment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5431536"/>
            <a:ext cx="1090879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5705856"/>
            <a:ext cx="530352" cy="53035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7058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691640" y="55961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 Kafui Sabuki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691640" y="59984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Response, KRIs &amp; Conclusion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52160" y="568756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strategies, trigger points, recommendations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as a group and individually — each presenter owns and answers questions on their slot.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82880"/>
            <a:ext cx="420624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E5A88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Amaka Mary Nduka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Risk Identification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1  ·  ~4 minutes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</a:rPr>
              <a:t>Pfizer–Seagen Acquisition </a:t>
            </a:r>
            <a:r>
              <a:rPr lang="en-US" sz="30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562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$43B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biopharma deal since 2019; Pfizer’s oncology reset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01568" y="1691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01568" y="18562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ADCs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38728" y="2560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ADCETRIS, PADCEV, TIVDAK, TUKYSA acquired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63056" y="1691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63056" y="18562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$71.9B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00216" y="2560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Post-deal debt — nearly doubled from $35.8B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24544" y="1691640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24544" y="1856232"/>
            <a:ext cx="262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$10B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61704" y="25603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ADC revenue Pfizer projects by 2030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10908792" cy="2788920"/>
          </a:xfrm>
          <a:prstGeom prst="roundRect">
            <a:avLst>
              <a:gd name="adj" fmla="val 262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58444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Pfizer did it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4069080"/>
            <a:ext cx="10332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Pfizer faces a ~$17B patent cliff through 2030 (Eliquis, Ibrance, Xeljanz losing exclusivity).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Seagen’s antibody-drug conjugate (ADC) linker-payload platform + Pfizer’s antibody library = a precision-oncology growth engine.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 doubled Pfizer’s oncology pipeline to 60 programs and is expected to deliver ~$1B in annual synergies by 2026.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question is whether Pfizer can execute it under competitive, financial and regulatory pressure.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Connected Pressures Behind the Deal’s Risk 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1518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9751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AbbVie, Merck, BMS and Gilead committed &gt;$15B to ADCs during Pfizer’s Seagen integration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1783080"/>
            <a:ext cx="261518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0" y="201168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160520" y="19751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25603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Near-doubled debt limits the flexibility to fund the R&amp;D needed for the deal’s upside.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783080"/>
            <a:ext cx="261518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2011680"/>
            <a:ext cx="365760" cy="365760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19751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5603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3,400-person science-led firm is being integrated into an 80,000-person enterprise. Scientific talent is the asset.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69680" y="1783080"/>
            <a:ext cx="261518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0" y="2011680"/>
            <a:ext cx="365760" cy="365760"/>
          </a:xfrm>
          <a:prstGeom prst="ellipse">
            <a:avLst/>
          </a:prstGeom>
          <a:solidFill>
            <a:srgbClr val="D68910"/>
          </a:solidFill>
          <a:ln/>
        </p:spPr>
      </p:sp>
      <p:sp>
        <p:nvSpPr>
          <p:cNvPr id="18" name="Text 16"/>
          <p:cNvSpPr/>
          <p:nvPr/>
        </p:nvSpPr>
        <p:spPr>
          <a:xfrm>
            <a:off x="9646920" y="19751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0" y="25603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Inflation Reduction Act creates pricing pressure on ADCETRIS and future Seagen products.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526280"/>
            <a:ext cx="10908792" cy="1508760"/>
          </a:xfrm>
          <a:prstGeom prst="roundRect">
            <a:avLst>
              <a:gd name="adj" fmla="val 4848"/>
            </a:avLst>
          </a:prstGeom>
          <a:solidFill>
            <a:srgbClr val="14253D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681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ERM lens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50292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treat these as a connected system, not a checklist — e.g., chasing the $1B synergy target can accelerate the very talent loss the deal’s science depends on. The rest of our analysis quantifies this interaction view (COSO 2017; ISO 31000). 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OF RISKS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SWOT to a evidence-based 20-risk register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4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evidence-based “Better SWOT”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entered the register only if it was </a:t>
            </a:r>
            <a:b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verifiable evidence, </a:t>
            </a:r>
            <a:b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trackable by a leading indicator, and</a:t>
            </a:r>
            <a:b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 driver — not a restatement.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42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instructor feedback we expanded the register from 16 to 20 risks, adding cybersecurity, ESG/workforce, payer concentration and FX exposure across five categories.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0" y="1691640"/>
          <a:ext cx="51206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120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Critical and five High risks — all competitive or financial — concentrate the exposure.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82880"/>
            <a:ext cx="420624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E5A88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Dike Liu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Risk Assessment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2  ·  ~4 minutes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RISK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analytics lenses, one 1–10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Analytics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how each risk unfolds under Pfizer’s specific acquisition conditions— e.g., the 18–24-month window when Seagen talent is most poachable, or the IRA negotiation timeline for ADCETRIS.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99632" y="178308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73952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Fusion Analytics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73952" y="242316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Triangulates each risk against the wider oncology/ADC environment rather than Pfizer alone — this helped identify the competitive pressure: the rivals invested &gt;$15B into ADCs in the same window.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10908792" cy="1783080"/>
          </a:xfrm>
          <a:prstGeom prst="roundRect">
            <a:avLst>
              <a:gd name="adj" fmla="val 410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4805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1–10 scale, not High/Med/Low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9377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Finer granularity lets us rank within a band and feed the numbers straight into the quantitative model.   </a:t>
            </a: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= Likelihood × Impact. 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were assigned by expertise; scoring disagreements were resolved against evidence, not by averaging.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RISK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Corrected risk heatmap and risk priorities</a:t>
            </a:r>
            <a:endParaRPr lang="en-US" sz="3000" dirty="0"/>
          </a:p>
        </p:txBody>
      </p:sp>
      <p:pic>
        <p:nvPicPr>
          <p:cNvPr id="4" name="Image 0" descr="figs/fig1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5989320" cy="34419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12280" y="1691640"/>
            <a:ext cx="47548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40880" y="18745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</a:rPr>
              <a:t>Key takeaways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040880" y="2331720"/>
            <a:ext cx="4297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fixed an inconsistency: the old rule-based shading contradicted the register. The map now uses the same Priority bands the register uses.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clusters in the upper-right — a few competitive and financial risks account for almost all Critical/High severity risks.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advance to full quantitative treatment: R-MSE (market-share erosion), R-006 (talent attrition), R-010 (combination-therapy upside).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82880"/>
            <a:ext cx="420624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E5A88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Princess Mariama Ramboyong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Risk Assessment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3  ·  ~6 minutes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849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RISK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quantitative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15184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73352" y="201168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673352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 qualitative scores into probability and impact inputs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783080"/>
            <a:ext cx="2615184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6552" y="201168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416552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66160" y="26974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310896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uncertainty using triangular distributions (PMI 1996; Vose 2008) and 100,000 Monte Carlo iterations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783080"/>
            <a:ext cx="2615184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59752" y="201168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7159752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26974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310896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loss, variance, and value-at-risk for each risk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69680" y="1783080"/>
            <a:ext cx="2615184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02952" y="201168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9902952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052560" y="26974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98280" y="310896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results through sensitivity analysis + cross-check vs. the qualitative ranking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160520"/>
            <a:ext cx="10908792" cy="1874520"/>
          </a:xfrm>
          <a:prstGeom prst="roundRect">
            <a:avLst>
              <a:gd name="adj" fmla="val 3902"/>
            </a:avLst>
          </a:prstGeom>
          <a:solidFill>
            <a:srgbClr val="14253D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4315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66344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mirrors our reference case study (Khadem et al., 2018): qualitative scoring → numeric inputs  → simulation → validation. Triangular distributions are the standard choice when we have expert three-point estimates (min / most-likely / max) but no long historical frequency record — exactly our situation. Impact ranges come from the team’s DCF stress testing.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RISK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 Carlo results across three priority risks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0195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−$2.66B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R-MSE expected loss — the largest exposure (SD $1.06B)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34256" y="17373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34256" y="190195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689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−$0.37B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71416" y="2606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R-006 expected loss — highest probability at 55%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28432" y="17373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28432" y="190195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+$0.83B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165592" y="2606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R-010 expected value — a genuine, time-limited upside</a:t>
            </a:r>
            <a:endParaRPr lang="en-US" sz="1250" dirty="0"/>
          </a:p>
        </p:txBody>
      </p:sp>
      <p:graphicFrame>
        <p:nvGraphicFramePr>
          <p:cNvPr id="13" name="Chart 0"/>
          <p:cNvGraphicFramePr/>
          <p:nvPr>
            <p:extLst>
              <p:ext uri="{D42A27DB-BD31-4B8C-83A1-F6EECF244321}">
                <p14:modId xmlns:p14="http://schemas.microsoft.com/office/powerpoint/2010/main" val="2078025860"/>
              </p:ext>
            </p:extLst>
          </p:nvPr>
        </p:nvGraphicFramePr>
        <p:xfrm>
          <a:off x="640080" y="3429000"/>
          <a:ext cx="557784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6492240" y="3429000"/>
            <a:ext cx="5056632" cy="2697480"/>
          </a:xfrm>
          <a:prstGeom prst="roundRect">
            <a:avLst>
              <a:gd name="adj" fmla="val 2712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76656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results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766560" y="4023360"/>
            <a:ext cx="4526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money risk ≠ most likely risk.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R-MSE creates the largest financial exposure; R-006 is the most likely to happen (&gt;50%) but has a smaller dollar impact per event; R-010 provides a time-limited upside that offsets these two risks.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/ SD is required output — it shows R-MSE is also the most dispersed, so contingency must be sized to the tail, not the mean.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RISK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Sensitivity, validation, and tail risk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75304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80% of expected-loss variance is driven by IMPACT, not probability — so tightening the dollar estimate beats refining the odds.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2544" y="1783080"/>
            <a:ext cx="3575304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26864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RISK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26864" y="2377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626864" y="333756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4.7% chance that the combined threats exceed $8B in a given assessment (P90 combined ≈ $7.07B) — supporting the need for contingency planning.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5008" y="1783080"/>
            <a:ext cx="3575304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39328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39328" y="2377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339328" y="333756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Monte Carlo ranking agrees with the qualitative ranking — the two methods corroborate each other.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30352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4253D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54589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three checks turn a simulation into decision support: where to focus analysis (impact), how much to reserve (tail), and whether to trust the result (validation against the qualitative view).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RISK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Machine-learning risk prediction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4960991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 — KRI feature importance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309360" y="1691640"/>
            <a:ext cx="5239512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0" y="1847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setup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0" y="224028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Pfizer-Seagen outcome history exists, so we built a justified 600-row dataset whose features ARE our KRIs (competitor approvals, attrition, share change, coverage…) and predicted whether a quarter crosses the Red escalation threshold.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3703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09360" y="3867912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6446520" y="457200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accuracy (Random Forest)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006840" y="3703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006840" y="3867912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9144000" y="457200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ROC-AUC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309360" y="5285232"/>
            <a:ext cx="5239512" cy="868680"/>
          </a:xfrm>
          <a:prstGeom prst="roundRect">
            <a:avLst>
              <a:gd name="adj" fmla="val 8421"/>
            </a:avLst>
          </a:prstGeom>
          <a:solidFill>
            <a:srgbClr val="14253D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83680" y="54132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independently re-discovers the same top-5 drivers our register flags — construct validation: the KRIs and the data agree.</a:t>
            </a:r>
            <a:endParaRPr lang="en-US" sz="12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A316F75-98F7-FF82-44EC-884E662A1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44" y="1792224"/>
            <a:ext cx="4714591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RISK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situation assessment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environment feeds the model inputs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40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environment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800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market growth of 9–14% CAGR → sets the R-MSE impact range (share loss is judged against an expanding market).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Near-doubled debt → reduces Pfizer’s flexibility to fund R&amp;D that captures R-010’s upside.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Payload-conjugation capacity concentrated in a few contract manufacturers → creates a supply-chain ceiling on scale-up (R-007).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9632" y="205740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73952" y="2240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Non-business environment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73952" y="2697480"/>
            <a:ext cx="4800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 litigation now closed (3rd Circuit, 2025) → the $1–3B R-003 impact is modelled as near-certain, tightening the R-002 downside.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ADC innovation (dozens of new entrants/yr) → R-010’s first-mover window is time-bound, so its probability input is held at 50%.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supply concentration → reinforces the manufacturing risk above.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82880"/>
            <a:ext cx="420624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E5A88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Stella Kafui Sabuki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Response, KRIs &amp; Conclusion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4  ·  ~5 minutes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RESPONSE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response strategies for priority risks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20824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79222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R-006 Talent Attrition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26280" y="179222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40880" y="179222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equity, R&amp;D independence, exec sponsorship, non-solicitation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1090879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734056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250545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R-MSE Share Erosion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26280" y="25054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 + bounded acceptance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40880" y="250545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pipeline &amp; real-world evidence; accept normal share swings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163824"/>
            <a:ext cx="1090879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447288"/>
            <a:ext cx="146304" cy="146304"/>
          </a:xfrm>
          <a:prstGeom prst="ellipse">
            <a:avLst/>
          </a:prstGeom>
          <a:solidFill>
            <a:srgbClr val="D68910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32186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R-002 / R-001 Revenue &amp; Coverage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26280" y="32186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40880" y="32186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Ex-US launch, IRA haircut built into base, pre-authorised CAPEX deferral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877056"/>
            <a:ext cx="1090879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160520"/>
            <a:ext cx="146304" cy="146304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R-003 IRA Pricing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26280" y="3931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+ manage timing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040880" y="3931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Litigation foreclosed; lifecycle management + PhRMA engagement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590288"/>
            <a:ext cx="1090879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4873752"/>
            <a:ext cx="146304" cy="14630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6" name="Text 24"/>
          <p:cNvSpPr/>
          <p:nvPr/>
        </p:nvSpPr>
        <p:spPr>
          <a:xfrm>
            <a:off x="1234440" y="46451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R-010 Combination Upside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26280" y="46451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/ enhance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040880" y="46451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4+ programs/qtr; lock academic-center partnerships first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303520"/>
            <a:ext cx="1090879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4400" y="558698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1234440" y="535838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R-017 Cybersecurity in Integration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26280" y="535838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040880" y="535838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segmentation, same-day SOC ingestion, MFA, vendor diligence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choice weighs internal conditions (balance sheet, structure) against external ones (rivals, regulation) — not one default strategy applied across the board.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INDICATORS &amp; TRIGGER POINTS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KRIs and trigger points for priority risks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KRI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6072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8096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09760" y="1783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— escalate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30428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R-006 — critical-scientist attrition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60720" y="2450592"/>
            <a:ext cx="1783080" cy="457200"/>
          </a:xfrm>
          <a:prstGeom prst="roundRect">
            <a:avLst>
              <a:gd name="adj" fmla="val 10000"/>
            </a:avLst>
          </a:prstGeom>
          <a:solidFill>
            <a:srgbClr val="E7F4EE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24505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 annualized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680960" y="2450592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FBF0DE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0" y="24505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509760" y="2450592"/>
            <a:ext cx="1810512" cy="457200"/>
          </a:xfrm>
          <a:prstGeom prst="roundRect">
            <a:avLst>
              <a:gd name="adj" fmla="val 10000"/>
            </a:avLst>
          </a:prstGeom>
          <a:solidFill>
            <a:srgbClr val="F7E0DC"/>
          </a:solidFill>
          <a:ln/>
        </p:spPr>
      </p:sp>
      <p:sp>
        <p:nvSpPr>
          <p:cNvPr id="15" name="Text 13"/>
          <p:cNvSpPr/>
          <p:nvPr/>
        </p:nvSpPr>
        <p:spPr>
          <a:xfrm>
            <a:off x="9509760" y="245059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8% or any named-scientist exit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273552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383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R-MSE — ADC market share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60720" y="3529584"/>
            <a:ext cx="1783080" cy="457200"/>
          </a:xfrm>
          <a:prstGeom prst="roundRect">
            <a:avLst>
              <a:gd name="adj" fmla="val 10000"/>
            </a:avLst>
          </a:prstGeom>
          <a:solidFill>
            <a:srgbClr val="E7F4EE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352958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22% share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80960" y="3529584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FBF0DE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35295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18–21%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509760" y="3529584"/>
            <a:ext cx="1810512" cy="457200"/>
          </a:xfrm>
          <a:prstGeom prst="roundRect">
            <a:avLst>
              <a:gd name="adj" fmla="val 10000"/>
            </a:avLst>
          </a:prstGeom>
          <a:solidFill>
            <a:srgbClr val="F7E0DC"/>
          </a:solidFill>
          <a:ln/>
        </p:spPr>
      </p:sp>
      <p:sp>
        <p:nvSpPr>
          <p:cNvPr id="23" name="Text 21"/>
          <p:cNvSpPr/>
          <p:nvPr/>
        </p:nvSpPr>
        <p:spPr>
          <a:xfrm>
            <a:off x="9509760" y="352958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18% or 4+ rival Phase III/qtr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352544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446227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R-001 — interest coverage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60720" y="4608576"/>
            <a:ext cx="1783080" cy="457200"/>
          </a:xfrm>
          <a:prstGeom prst="roundRect">
            <a:avLst>
              <a:gd name="adj" fmla="val 10000"/>
            </a:avLst>
          </a:prstGeom>
          <a:solidFill>
            <a:srgbClr val="E7F4EE"/>
          </a:solidFill>
          <a:ln/>
        </p:spPr>
      </p:sp>
      <p:sp>
        <p:nvSpPr>
          <p:cNvPr id="27" name="Text 25"/>
          <p:cNvSpPr/>
          <p:nvPr/>
        </p:nvSpPr>
        <p:spPr>
          <a:xfrm>
            <a:off x="5760720" y="460857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1.5×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680960" y="4608576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FBF0DE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0" y="460857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1.2–1.5×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509760" y="4608576"/>
            <a:ext cx="1810512" cy="457200"/>
          </a:xfrm>
          <a:prstGeom prst="roundRect">
            <a:avLst>
              <a:gd name="adj" fmla="val 10000"/>
            </a:avLst>
          </a:prstGeom>
          <a:solidFill>
            <a:srgbClr val="F7E0DC"/>
          </a:solidFill>
          <a:ln/>
        </p:spPr>
      </p:sp>
      <p:sp>
        <p:nvSpPr>
          <p:cNvPr id="31" name="Text 29"/>
          <p:cNvSpPr/>
          <p:nvPr/>
        </p:nvSpPr>
        <p:spPr>
          <a:xfrm>
            <a:off x="9509760" y="4608576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1.0×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are grounded in published benchmarks (EY M&amp;A turnover, biotech baseline, ADC market CAGR) — not team guesses — and each KRI maps to a named owner and escalation action.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TREATMENT &amp; RESPONSE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risk assessment to an owned, monitored plan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3968496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Risk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Residual risk after treatment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Owner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R-006 Talent attrition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— reduced, not eliminated (55% modeled)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 / IMO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R-MSE Share erosion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Mitigate + accept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 — largest dollar exposure; bounded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CSO / Commercial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R-002 Revenue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— in control but IRA-pressured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 / CO Officer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R-003 IRA pricing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+ manage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 — $1–3B near-certain by statute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 / Govt Affairs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R-010 Combination upside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Upside at risk — contingent on execution 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CSO / Commercial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R-017 Cyber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— likelihood down; severe tail remains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CISO / IMO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priority risk now carries a strategy, a residual-risk position, a KRI, and a named owner — the plan management actually runs.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conclusions from the ERM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75688"/>
            <a:ext cx="438912" cy="438912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75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1109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Strategically sound, execution-dependent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31343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$10B thesis holds — but it rides on a handful of interconnected risks, not the deal’s overall financials.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1090879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191256"/>
            <a:ext cx="438912" cy="43891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91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026664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risks decide the outcome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4290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Market-share erosion (biggest dollars), talent attrition (most likely), combination upside (time-limited offset).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14216"/>
            <a:ext cx="1090879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306824"/>
            <a:ext cx="438912" cy="438912"/>
          </a:xfrm>
          <a:prstGeom prst="ellipse">
            <a:avLst/>
          </a:prstGeom>
          <a:solidFill>
            <a:srgbClr val="D6891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068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142232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the tail and the loop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54456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against the ~$7B P90 combined threat; break the synergy-pressure → attrition feedback loop early.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129784"/>
            <a:ext cx="1090879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422392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422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525780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connected system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5660136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Qualitative, quantitative, ML and KRIs are four views of the same risk — that integration is the real finding.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931920"/>
            <a:ext cx="5486400" cy="5486400"/>
          </a:xfrm>
          <a:prstGeom prst="ellipse">
            <a:avLst/>
          </a:prstGeom>
          <a:solidFill>
            <a:srgbClr val="2E5A8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CLOSE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we’d tell Pfizer’s board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332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— the strategic logic is sound.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science: fund retention before chasing every synergy dollar.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for the tail: combined competitive threats reach ~$7B at the 90th percentile.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leading indicators monthly — attrition, share, coverage — and act at amber, not red.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10  —  Enterprise Risk Management Analytics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2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Questions?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188720" y="52120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sources: 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Khadem, Piya &amp; Shamsuzzoha (2018) · Fleisher &amp; Bensoussan (2015) · COSO (2017) · PMI (1996) · Vose (2008) · Grand View Research (2025) · Mordor Intelligence (2026) · Pfizer Inc. (2023a, 2023b)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3443</Words>
  <Application>Microsoft Macintosh PowerPoint</Application>
  <PresentationFormat>Widescreen</PresentationFormat>
  <Paragraphs>293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Pfizer-Seagen ERM Signature Assessment</dc:title>
  <dc:subject>PptxGenJS Presentation</dc:subject>
  <dc:creator>Group 10</dc:creator>
  <cp:lastModifiedBy>Cess Diaz</cp:lastModifiedBy>
  <cp:revision>2</cp:revision>
  <dcterms:created xsi:type="dcterms:W3CDTF">2026-06-23T03:56:43Z</dcterms:created>
  <dcterms:modified xsi:type="dcterms:W3CDTF">2026-06-26T17:40:09Z</dcterms:modified>
</cp:coreProperties>
</file>